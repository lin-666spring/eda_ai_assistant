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96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期初（旧数据口径）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50" b="0" i="0" u="none" strike="noStrike">
                    <a:solidFill>
                      <a:srgbClr val="1F4E79"/>
                    </a:solidFill>
                    <a:latin typeface="Microsoft YaHei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可判定覆盖率（口径A）</c:v>
                </c:pt>
                <c:pt idx="1">
                  <c:v>有输出覆盖率（口径B）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70.400000000000006</c:v>
                </c:pt>
                <c:pt idx="1">
                  <c:v>54.9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8BC-48AE-A89F-2F514DEF33B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现在（.epro2 全量）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50" b="0" i="0" u="none" strike="noStrike">
                    <a:solidFill>
                      <a:srgbClr val="1F4E79"/>
                    </a:solidFill>
                    <a:latin typeface="Microsoft YaHei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可判定覆盖率（口径A）</c:v>
                </c:pt>
                <c:pt idx="1">
                  <c:v>有输出覆盖率（口径B）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100</c:v>
                </c:pt>
                <c:pt idx="1">
                  <c:v>85.9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8BC-48AE-A89F-2F514DEF33B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2D2D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77777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D2D2D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7001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开场：一句话定位——我们在做一个让 AI 给出的每一条 PCB 设计建议都经过规则验证的系统。本次中期检查按学校要求的五个方面汇报。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先立靶子：项目要解决的不是“AI 能不能写代码”，而是“AI 的硬件建议可不可信”。闭环验证引擎是全项目的技术主轴，后面所有成果都围绕它展开。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主动说明论文滞后约一个月的原因：9 月先把实验数据做实（覆盖率与指标口径），10 月集中产出初稿——先数据后写作，避免返工。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强调“可用”：不是演示原型，是有 1289 项测试、可打包安装、按工作区管理会话的完整软件。右图为软著手册同款真实截图。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这是全项目最核心的一页。每个数字都能在实验目录下复现；答辩追问时口径：收敛率按 BOM 变更类建议计，100% 指 blocking 级新增违规消除。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口径要讲清：A=规则真的执行了判断，B=实际报出违规。71 条规则全部可判定；两条口径都能一键复现，不是数字灌水。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三个数字对应三类同学的工作：成员B的模型线、性能专项、以及全员的质量底线。BERT 升级同时保留了关键词与云端兜底，短命令由模板覆盖。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论文今天刚出初稿、尚未提交 git；软著按学校流程走完提交即可。若评委问论文进度：已进入导师审阅阶段。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讲问题的原则：每个问题都给出“定位—解法—验证”三段式，避免只列问题不给方案。指标区分度一条最能体现科研严谨性，可展开讲。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两条主线都有明确责任人与时间点：论文由李泓达牵头、软著由林昊晞牵头、实验收尾由刘澈牵头。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★提交前必做：把申报书预算额度与实际报销数填进左表（当前为台账口径）。“待对账”一格按财务系统数字替换。项目本质是软件研发，经费执行率低是正常情况，重点讲控费机制。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结论页停留 during Q&amp;A。预期问题：①覆盖率口径（A/B 两口径）②为什么自研解析器（官方导出交叉验证）③论文投稿目标期刊。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34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200" dirty="0">
                <a:solidFill>
                  <a:srgbClr val="A9C6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大学生创新创业训练计划项目 · 中期检查汇报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17373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智绘PCB——AI智能PCB设计助手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 PCB 设计的闭环验证式智能设计助手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3977640"/>
            <a:ext cx="1828800" cy="4114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22960" y="42062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汇报人：李泓达（项目负责人）　　团队成员：林昊晞 · 刘澈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指导教师：丁文晴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C6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吉林大学 · 仪器科学与电气工程学院 · 测控技术与仪器专业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5989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C6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 10 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汇报提纲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137160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项目执行情况</a:t>
            </a:r>
            <a:endParaRPr lang="en-US" sz="1800" dirty="0"/>
          </a:p>
          <a:p>
            <a:pPr marL="0" indent="0">
              <a:buNone/>
            </a:pPr>
            <a:r>
              <a:rPr lang="en-US" sz="125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是否按立项计划进行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304288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0" y="2304288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阶段性成果</a:t>
            </a:r>
            <a:endParaRPr lang="en-US" sz="1800" dirty="0"/>
          </a:p>
          <a:p>
            <a:pPr marL="0" indent="0">
              <a:buNone/>
            </a:pPr>
            <a:r>
              <a:rPr lang="en-US" sz="125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系统建成 · 闭环实验 · 数据工程 · 本地智能 · 产出物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236976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371600" y="3236976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主要问题及解决方式</a:t>
            </a:r>
            <a:endParaRPr lang="en-US" sz="1800" dirty="0"/>
          </a:p>
          <a:p>
            <a:pPr marL="0" indent="0">
              <a:buNone/>
            </a:pPr>
            <a:r>
              <a:rPr lang="en-US" sz="125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五个问题的定位、解法与验证效果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169664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371600" y="4169664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下阶段工作计划</a:t>
            </a:r>
            <a:endParaRPr lang="en-US" sz="1800" dirty="0"/>
          </a:p>
          <a:p>
            <a:pPr marL="0" indent="0">
              <a:buNone/>
            </a:pPr>
            <a:r>
              <a:rPr lang="en-US" sz="125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两条主线与核心问题工作方案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5102352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371600" y="5102352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经费使用情况</a:t>
            </a:r>
            <a:endParaRPr lang="en-US" sz="1800" dirty="0"/>
          </a:p>
          <a:p>
            <a:pPr marL="0" indent="0">
              <a:buNone/>
            </a:pPr>
            <a:r>
              <a:rPr lang="en-US" sz="125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支出科目与执行特点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452360" y="1371600"/>
            <a:ext cx="4279392" cy="4480560"/>
          </a:xfrm>
          <a:prstGeom prst="roundRect">
            <a:avLst>
              <a:gd name="adj" fmla="val 1709"/>
            </a:avLst>
          </a:prstGeom>
          <a:solidFill>
            <a:srgbClr val="EBF3FA"/>
          </a:solidFill>
          <a:ln w="12700">
            <a:solidFill>
              <a:srgbClr val="EBF3F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7726680" y="16002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项目速览（截至 2026-10）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26680" y="2011680"/>
            <a:ext cx="3749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技术核心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闭环验证引擎（建议 → 规则复检 → 修正收敛）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系统版本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v0.8.0（运行时品牌 TraceWise）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真实设计数据集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155 个（立创开源平台）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自动化测试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1289 项全部通过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设计规则 / 工具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71 条 DRC 规则 / 24 项工具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· MIT 协议 · 101 次提交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· 项目执行情况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立项目标：以规则引擎闭环验证，破解大模型在 PCB 设计中的幻觉难题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为什么做这个项目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5394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400"/>
              </a:spcAft>
              <a:buSzPct val="100000"/>
              <a:buChar char="▸"/>
            </a:pPr>
            <a:r>
              <a:rPr lang="en-US" sz="15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通用大模型直接给硬件设计建议会产生「幻觉」——看似合理实则危险，例如把全部 100nF 电容改值时误删 MCU 复位电路电容</a:t>
            </a:r>
            <a:endParaRPr lang="en-US" sz="1550" dirty="0"/>
          </a:p>
          <a:p>
            <a:pPr marL="152400" indent="-152400">
              <a:spcAft>
                <a:spcPts val="1400"/>
              </a:spcAft>
              <a:buSzPct val="100000"/>
              <a:buChar char="▸"/>
            </a:pPr>
            <a:r>
              <a:rPr lang="en-US" sz="15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人工逐项核对设计规则低效易漏，中小团队与高校学生缺乏专业检查手段</a:t>
            </a:r>
            <a:endParaRPr lang="en-US" sz="1550" dirty="0"/>
          </a:p>
          <a:p>
            <a:pPr marL="152400" indent="-152400">
              <a:spcAft>
                <a:spcPts val="1400"/>
              </a:spcAft>
              <a:buSzPct val="100000"/>
              <a:buChar char="▸"/>
            </a:pPr>
            <a:r>
              <a:rPr lang="en-US" sz="15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 EDA 的 AI 插件多为单一大模型问答：无规则验证、无闭环修正，结果不可信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26364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技术答案：闭环验证引擎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63640" y="1810512"/>
            <a:ext cx="5486400" cy="658368"/>
          </a:xfrm>
          <a:prstGeom prst="roundRect">
            <a:avLst>
              <a:gd name="adj" fmla="val 8333"/>
            </a:avLst>
          </a:prstGeom>
          <a:solidFill>
            <a:srgbClr val="EBF3FA"/>
          </a:solidFill>
          <a:ln w="12700">
            <a:solidFill>
              <a:srgbClr val="C9DC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446520" y="1810512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LLM 生成 BOM 变更建议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778240" y="24323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706624"/>
            <a:ext cx="5486400" cy="658368"/>
          </a:xfrm>
          <a:prstGeom prst="roundRect">
            <a:avLst>
              <a:gd name="adj" fmla="val 8333"/>
            </a:avLst>
          </a:prstGeom>
          <a:solidFill>
            <a:srgbClr val="EBF3FA"/>
          </a:solidFill>
          <a:ln w="12700">
            <a:solidFill>
              <a:srgbClr val="C9DC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446520" y="2706624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DRC 规则引擎对设计副本复检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778240" y="33284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63640" y="3602736"/>
            <a:ext cx="5486400" cy="658368"/>
          </a:xfrm>
          <a:prstGeom prst="roundRect">
            <a:avLst>
              <a:gd name="adj" fmla="val 8333"/>
            </a:avLst>
          </a:prstGeom>
          <a:solidFill>
            <a:srgbClr val="EBF3FA"/>
          </a:solidFill>
          <a:ln w="12700">
            <a:solidFill>
              <a:srgbClr val="C9DC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446520" y="3602736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新增违规 → 结构化修正反馈（违规清单 + 修法指引 + 撤销语义）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778240" y="4224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63640" y="4498848"/>
            <a:ext cx="5486400" cy="658368"/>
          </a:xfrm>
          <a:prstGeom prst="roundRect">
            <a:avLst>
              <a:gd name="adj" fmla="val 8333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6446520" y="4498848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迭代直至收敛（六状态收敛状态机，危险建议整体撤销）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57200" y="5623560"/>
            <a:ext cx="11274552" cy="640080"/>
          </a:xfrm>
          <a:prstGeom prst="roundRect">
            <a:avLst>
              <a:gd name="adj" fmla="val 8571"/>
            </a:avLst>
          </a:prstGeom>
          <a:solidFill>
            <a:srgbClr val="F2F7FC"/>
          </a:solidFill>
          <a:ln w="12700">
            <a:solidFill>
              <a:srgbClr val="C9DC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731520" y="56235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立项产出目标：</a:t>
            </a:r>
            <a:r>
              <a:rPr lang="en-US" sz="14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EI 论文投稿 ｜ 软件著作权申请 ｜ 真实数据集 20+ 块 ｜ 软件打包发布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立项目标来源：《智绘PCB——AI智能PCB设计助手项目计划书》（2026-08）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· 项目执行情况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总体按立项计划推进：五项节点中四项达成，一项滞后已补齐</a:t>
            </a:r>
            <a:endParaRPr lang="en-US" sz="2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4023360"/>
        </p:xfrm>
        <a:graphic>
          <a:graphicData uri="http://schemas.openxmlformats.org/drawingml/2006/table">
            <a:tbl>
              <a:tblPr/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3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立项计划事项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计划节点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当前进展（2026-10）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判定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闭环验证引擎与规则体系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2026-08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71 条规则引擎建成，并通过全量真实实验（79 设计 × 395 条建议）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F4E7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✔ 达成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真实数据集扩充至 20+ 块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 下半年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155 个真实设计（79 thing_designs + 76 个 .epro2 工程），约为目标 7.8 倍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F4E7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✔ 超前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EI / 期刊论文投稿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2026-09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 页中文期刊口径初稿完成（10-19），待导师审阅后投稿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7A52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◐ 滞后已补齐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软件著作权申请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2026-08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材料完备：用户手册 19 页、源程序文档 685 页，具备提交条件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F4E7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✔ 达成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软件打包发布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2027 上半年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Windows 安装包 v0.8.0 已产出，安装 / 卸载全流程验证完毕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F4E7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✔ 提前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457200" y="5715000"/>
            <a:ext cx="11274552" cy="566928"/>
          </a:xfrm>
          <a:prstGeom prst="roundRect">
            <a:avLst>
              <a:gd name="adj" fmla="val 9677"/>
            </a:avLst>
          </a:prstGeom>
          <a:solidFill>
            <a:srgbClr val="FFF2CC"/>
          </a:solidFill>
          <a:ln w="12700">
            <a:solidFill>
              <a:srgbClr val="E6C8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731520" y="571500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52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总体判断：</a:t>
            </a:r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技术路线未偏离立项计划，结项所需核心节点均已就绪；唯一滞后的论文节点已于 10 月补齐初稿。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阶段性成果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成果一：建成完整可用的闭环验证式智能设计助手系统（v0.8）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4300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43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交互层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1600200" y="1371600"/>
            <a:ext cx="4892040" cy="749808"/>
          </a:xfrm>
          <a:prstGeom prst="rect">
            <a:avLst/>
          </a:prstGeom>
          <a:solidFill>
            <a:srgbClr val="F2F7FC"/>
          </a:solidFill>
          <a:ln w="12700">
            <a:solidFill>
              <a:srgbClr val="C9DC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737360" y="1371600"/>
            <a:ext cx="4663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Eel Web 界面 · 对话优先工作区 · 系统托盘 / 伴生模式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231136"/>
            <a:ext cx="114300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457200" y="2231136"/>
            <a:ext cx="1143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智能层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1600200" y="2231136"/>
            <a:ext cx="4892040" cy="749808"/>
          </a:xfrm>
          <a:prstGeom prst="rect">
            <a:avLst/>
          </a:prstGeom>
          <a:solidFill>
            <a:srgbClr val="F2F7FC"/>
          </a:solidFill>
          <a:ln w="12700">
            <a:solidFill>
              <a:srgbClr val="C9DC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737360" y="2231136"/>
            <a:ext cx="4663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 BERT 意图识别 · 10 家 LLM 智能路由 · Function Calling Agent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090672"/>
            <a:ext cx="114300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57200" y="3090672"/>
            <a:ext cx="1143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业务层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1600200" y="3090672"/>
            <a:ext cx="4892040" cy="749808"/>
          </a:xfrm>
          <a:prstGeom prst="rect">
            <a:avLst/>
          </a:prstGeom>
          <a:solidFill>
            <a:srgbClr val="F2F7FC"/>
          </a:solidFill>
          <a:ln w="12700">
            <a:solidFill>
              <a:srgbClr val="C9DC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737360" y="3090672"/>
            <a:ext cx="4663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BOM 管理 · 71 条 DRC 规则 · 5 类审查 Agent · 电路计算引擎 · RAG 知识库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950208"/>
            <a:ext cx="114300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457200" y="3950208"/>
            <a:ext cx="1143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验证层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1600200" y="3950208"/>
            <a:ext cx="4892040" cy="749808"/>
          </a:xfrm>
          <a:prstGeom prst="rect">
            <a:avLst/>
          </a:prstGeom>
          <a:solidFill>
            <a:srgbClr val="F2F7FC"/>
          </a:solidFill>
          <a:ln w="12700">
            <a:solidFill>
              <a:srgbClr val="C9DC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1737360" y="3950208"/>
            <a:ext cx="4663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闭环验证引擎 · 六状态迭代收敛状态机 · DRC 守门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4809744"/>
            <a:ext cx="114300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457200" y="4809744"/>
            <a:ext cx="1143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1600200" y="4809744"/>
            <a:ext cx="4892040" cy="749808"/>
          </a:xfrm>
          <a:prstGeom prst="rect">
            <a:avLst/>
          </a:prstGeom>
          <a:solidFill>
            <a:srgbClr val="F2F7FC"/>
          </a:solidFill>
          <a:ln w="12700">
            <a:solidFill>
              <a:srgbClr val="C9DC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1737360" y="4809744"/>
            <a:ext cx="4663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SQLite 会话库 · ChromaDB 本地知识库 · 155 个真实设计数据集</a:t>
            </a:r>
            <a:endParaRPr lang="en-US" sz="1250" dirty="0"/>
          </a:p>
        </p:txBody>
      </p:sp>
      <p:pic>
        <p:nvPicPr>
          <p:cNvPr id="24" name="Image 0" descr="../软著材料/_build/shots/05_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371600"/>
            <a:ext cx="4919472" cy="329184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6812280" y="4736592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多智能体审查真实界面：六维雷达图 + 综合评分 A / 94.6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812280" y="5138928"/>
            <a:ext cx="4919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规模：</a:t>
            </a:r>
            <a:r>
              <a:rPr lang="en-US" sz="13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 项工具 · 12 套电路模板 · 10 家 AI 厂商 · 11 类中文 PCB 知识库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阶段性成果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成果二：闭环验证全量实验五项指标全部超越立项目标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167128" cy="2057400"/>
          </a:xfrm>
          <a:prstGeom prst="roundRect">
            <a:avLst>
              <a:gd name="adj" fmla="val 3556"/>
            </a:avLst>
          </a:prstGeom>
          <a:solidFill>
            <a:srgbClr val="EBF3FA"/>
          </a:solidFill>
          <a:ln w="12700">
            <a:solidFill>
              <a:srgbClr val="C9DC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2167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94.2%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1984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BOM 变更收敛率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2999232"/>
            <a:ext cx="1984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立项目标 &gt; 70%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34056" y="1417320"/>
            <a:ext cx="2167128" cy="2057400"/>
          </a:xfrm>
          <a:prstGeom prst="roundRect">
            <a:avLst>
              <a:gd name="adj" fmla="val 3556"/>
            </a:avLst>
          </a:prstGeom>
          <a:solidFill>
            <a:srgbClr val="EBF3FA"/>
          </a:solidFill>
          <a:ln w="12700">
            <a:solidFill>
              <a:srgbClr val="C9DC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2734056" y="1600200"/>
            <a:ext cx="2167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1.14 轮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2825496" y="2377440"/>
            <a:ext cx="1984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平均修正轮次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825496" y="2999232"/>
            <a:ext cx="1984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立项目标 ≤ 2.0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10912" y="1417320"/>
            <a:ext cx="2167128" cy="2057400"/>
          </a:xfrm>
          <a:prstGeom prst="roundRect">
            <a:avLst>
              <a:gd name="adj" fmla="val 3556"/>
            </a:avLst>
          </a:prstGeom>
          <a:solidFill>
            <a:srgbClr val="EBF3FA"/>
          </a:solidFill>
          <a:ln w="12700">
            <a:solidFill>
              <a:srgbClr val="C9DC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5010912" y="1600200"/>
            <a:ext cx="2167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5102352" y="2377440"/>
            <a:ext cx="1984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危险建议消除率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102352" y="2999232"/>
            <a:ext cx="1984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 &gt; 80%（blocking 级）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287768" y="1417320"/>
            <a:ext cx="2167128" cy="2057400"/>
          </a:xfrm>
          <a:prstGeom prst="roundRect">
            <a:avLst>
              <a:gd name="adj" fmla="val 3556"/>
            </a:avLst>
          </a:prstGeom>
          <a:solidFill>
            <a:srgbClr val="EBF3FA"/>
          </a:solidFill>
          <a:ln w="12700">
            <a:solidFill>
              <a:srgbClr val="C9DC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7287768" y="1600200"/>
            <a:ext cx="2167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95.7%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7379208" y="2377440"/>
            <a:ext cx="1984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缺陷注入检出率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379208" y="2999232"/>
            <a:ext cx="1984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280 次注入检出 268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564624" y="1417320"/>
            <a:ext cx="2167128" cy="2057400"/>
          </a:xfrm>
          <a:prstGeom prst="roundRect">
            <a:avLst>
              <a:gd name="adj" fmla="val 3556"/>
            </a:avLst>
          </a:prstGeom>
          <a:solidFill>
            <a:srgbClr val="EBF3FA"/>
          </a:solidFill>
          <a:ln w="12700">
            <a:solidFill>
              <a:srgbClr val="C9DC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9564624" y="1600200"/>
            <a:ext cx="2167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94.2</a:t>
            </a:r>
            <a:endParaRPr lang="en-US" sz="3300" dirty="0"/>
          </a:p>
        </p:txBody>
      </p:sp>
      <p:sp>
        <p:nvSpPr>
          <p:cNvPr id="22" name="Text 20"/>
          <p:cNvSpPr/>
          <p:nvPr/>
        </p:nvSpPr>
        <p:spPr>
          <a:xfrm>
            <a:off x="9656064" y="2377440"/>
            <a:ext cx="1984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多智能体审查均分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656064" y="2999232"/>
            <a:ext cx="1984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立项目标 &gt; 75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749040"/>
            <a:ext cx="11274552" cy="566928"/>
          </a:xfrm>
          <a:prstGeom prst="roundRect">
            <a:avLst>
              <a:gd name="adj" fmla="val 9677"/>
            </a:avLst>
          </a:prstGeom>
          <a:solidFill>
            <a:srgbClr val="FFF2CC"/>
          </a:solidFill>
          <a:ln w="12700">
            <a:solidFill>
              <a:srgbClr val="E6C8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731520" y="374904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A52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实验规模：</a:t>
            </a:r>
            <a:r>
              <a:rPr lang="en-US" sz="13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79 个立创开源真实设计 × 5 类建议 = 395 条建议全量验证；对照立项时小样本实验（收敛 65% / 消除 76.5%），全量真实数据下全面提升。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57200" y="4526280"/>
            <a:ext cx="112745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 条危险建议被 LLM 识别后整体撤销——「AI 只会让设计变好，不会变差」由守门机制从机制上保证</a:t>
            </a:r>
            <a:endParaRPr lang="en-US" sz="14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 395 条建议零错误执行；闭环收敛由指纹重复、周期振荡、连续发散等六种终止状态判定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数据来源：experiment_results/run_thing_full_glm53（GLM-5.3，973 次调用 / 210.6 万 tokens），指标口径与论文初稿一致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阶段性成果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成果三：自研 .epro2 解析器打通真实数据，规则覆盖率提升至 100%</a:t>
            </a:r>
            <a:endParaRPr lang="en-US" sz="2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463040"/>
          <a:ext cx="539496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172200" y="1600200"/>
            <a:ext cx="555955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300"/>
              </a:spcAft>
              <a:buSzPct val="100000"/>
              <a:buChar char="▸"/>
            </a:pPr>
            <a:r>
              <a:rPr lang="en-US" sz="14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立创 .epro2 为未公开格式：自研解析器 78/78 工程解析成功，与官方导出交叉验证 100% 一致</a:t>
            </a:r>
            <a:endParaRPr lang="en-US" sz="1450" dirty="0"/>
          </a:p>
          <a:p>
            <a:pPr marL="152400" indent="-152400">
              <a:spcAft>
                <a:spcPts val="1300"/>
              </a:spcAft>
              <a:buSzPct val="100000"/>
              <a:buChar char="▸"/>
            </a:pPr>
            <a:r>
              <a:rPr lang="en-US" sz="14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元件 947/947 · 网络 667/667 · BOM 位号 885=885，坐标中位误差 0.0003 mm</a:t>
            </a:r>
            <a:endParaRPr lang="en-US" sz="1450" dirty="0"/>
          </a:p>
          <a:p>
            <a:pPr marL="152400" indent="-152400">
              <a:spcAft>
                <a:spcPts val="1300"/>
              </a:spcAft>
              <a:buSzPct val="100000"/>
              <a:buChar char="▸"/>
            </a:pPr>
            <a:r>
              <a:rPr lang="en-US" sz="14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以真实铜箔数据重标定走线阈值：全量误报 8394 → 4000（−52%），检出覆盖口径不变</a:t>
            </a:r>
            <a:endParaRPr lang="en-US" sz="1450" dirty="0"/>
          </a:p>
          <a:p>
            <a:pPr marL="152400" indent="-152400">
              <a:spcAft>
                <a:spcPts val="1300"/>
              </a:spcAft>
              <a:buSzPct val="100000"/>
              <a:buChar char="▸"/>
            </a:pPr>
            <a:r>
              <a:rPr lang="en-US" sz="14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激活长期失效的锐角 / 直角规则：110231 个真实拐角中检出锐角 862 处、直角 2146 处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复现：python scripts/epro2_rule_coverage.py（零 LLM、零网络，45 秒）；数据集合计 155 个真实设计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阶段性成果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成果四：意图识别升级为本地 BERT（95.2%），DRC 稳态 12.6 毫秒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666744" cy="4572000"/>
          </a:xfrm>
          <a:prstGeom prst="roundRect">
            <a:avLst>
              <a:gd name="adj" fmla="val 1995"/>
            </a:avLst>
          </a:prstGeom>
          <a:solidFill>
            <a:srgbClr val="F2F7FC"/>
          </a:solidFill>
          <a:ln w="12700">
            <a:solidFill>
              <a:srgbClr val="C9DC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685800" y="1645920"/>
            <a:ext cx="3209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本地智能 · 离线可用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85800" y="2057400"/>
            <a:ext cx="3209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95.2%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85800" y="2788920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引擎意图识别准确率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3429000"/>
            <a:ext cx="32095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2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自研 TextCNN 升级为 rbt3 BERT（ONNX fp16），裸模型 96.4%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2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59 项路由语义探针全部通过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2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 CPU 推理，摆脱云端 API 依赖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61104" y="1417320"/>
            <a:ext cx="3666744" cy="4572000"/>
          </a:xfrm>
          <a:prstGeom prst="roundRect">
            <a:avLst>
              <a:gd name="adj" fmla="val 1995"/>
            </a:avLst>
          </a:prstGeom>
          <a:solidFill>
            <a:srgbClr val="F2F7FC"/>
          </a:solidFill>
          <a:ln w="12700">
            <a:solidFill>
              <a:srgbClr val="C9DC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4489704" y="1645920"/>
            <a:ext cx="3209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性能优化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489704" y="2057400"/>
            <a:ext cx="3209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12.6 ms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489704" y="2788920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稳态 DRC 全量检查（原 520 ms，41×）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489704" y="3429000"/>
            <a:ext cx="32095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2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根因剖析：耗时来自重复 ML 前向，而非算法复杂度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2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双检锁预热 + BootStep 常驻缓存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65008" y="1417320"/>
            <a:ext cx="3666744" cy="4572000"/>
          </a:xfrm>
          <a:prstGeom prst="roundRect">
            <a:avLst>
              <a:gd name="adj" fmla="val 1995"/>
            </a:avLst>
          </a:prstGeom>
          <a:solidFill>
            <a:srgbClr val="F2F7FC"/>
          </a:solidFill>
          <a:ln w="12700">
            <a:solidFill>
              <a:srgbClr val="C9DC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8293608" y="1645920"/>
            <a:ext cx="3209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工程质量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293608" y="2057400"/>
            <a:ext cx="3209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1289 项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8293608" y="2788920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pytest 自动化测试全部通过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93608" y="3429000"/>
            <a:ext cx="32095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2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 冒烟 57 项全过（含深色 / 伴生模式）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2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金样快照锁定 2048 项断言，指标口径防漂移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2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规则抽查常态化（9-18 / 10-06 两轮报告）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口径：测试规模为 2026-10-14 提交（3121bdd）时点；意图识别为 data/nlu_eval.json 评估集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阶段性成果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成果五：论文初稿、软著材料、安装包、开源仓库四类产出全部落地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541264" cy="2121408"/>
          </a:xfrm>
          <a:prstGeom prst="roundRect">
            <a:avLst>
              <a:gd name="adj" fmla="val 3448"/>
            </a:avLst>
          </a:prstGeom>
          <a:solidFill>
            <a:srgbClr val="EBF3FA"/>
          </a:solidFill>
          <a:ln w="12700">
            <a:solidFill>
              <a:srgbClr val="C9DC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13232" y="157276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学术论文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13232" y="1993392"/>
            <a:ext cx="50292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《面向 PCB 设计的 LLM 闭环验证引擎》初稿 18 页（2026-10-19）：中文期刊口径，6 图 5 表 4 公式 16 篇文献；指标全部取自全量实测，逐页排版校验通过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81344" y="1371600"/>
            <a:ext cx="5541264" cy="2121408"/>
          </a:xfrm>
          <a:prstGeom prst="roundRect">
            <a:avLst>
              <a:gd name="adj" fmla="val 3448"/>
            </a:avLst>
          </a:prstGeom>
          <a:solidFill>
            <a:srgbClr val="F2F7FC"/>
          </a:solidFill>
          <a:ln w="12700">
            <a:solidFill>
              <a:srgbClr val="C9DC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437376" y="157276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软件著作权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37376" y="1993392"/>
            <a:ext cx="50292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《智绘PCB—AI智能PCB设计助手软件 V1.0》：用户操作手册 19 页（嵌 5 图）、源程序文档 34138 行 / 685 页、36 条静态目录——申请材料完备，待提交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694176"/>
            <a:ext cx="5541264" cy="2121408"/>
          </a:xfrm>
          <a:prstGeom prst="roundRect">
            <a:avLst>
              <a:gd name="adj" fmla="val 3448"/>
            </a:avLst>
          </a:prstGeom>
          <a:solidFill>
            <a:srgbClr val="F2F7FC"/>
          </a:solidFill>
          <a:ln w="12700">
            <a:solidFill>
              <a:srgbClr val="C9DC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13232" y="389534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软件交付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3232" y="4315968"/>
            <a:ext cx="50292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Inno Setup 安装包 + onedir 发行版 v0.8.0；运行时品牌定名 TraceWise；安装、卸载、升级全流程在真机验证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81344" y="3694176"/>
            <a:ext cx="5541264" cy="2121408"/>
          </a:xfrm>
          <a:prstGeom prst="roundRect">
            <a:avLst>
              <a:gd name="adj" fmla="val 3448"/>
            </a:avLst>
          </a:prstGeom>
          <a:solidFill>
            <a:srgbClr val="F2F7FC"/>
          </a:solidFill>
          <a:ln w="12700">
            <a:solidFill>
              <a:srgbClr val="C9DC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437376" y="389534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开源与过程资产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37376" y="4315968"/>
            <a:ext cx="50292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开源（MIT 协议）· 101 次提交全程留痕；实验数据、脚本与报告全部可复现，分工报告 / 代码示例文档齐备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论文与软著材料位于仓库 论文/ 与 软著材料/ 目录，可现场查验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主要问题及解决方式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五个主要问题均已定位并解决，解法全部经真实数据验证</a:t>
            </a:r>
            <a:endParaRPr lang="en-US" sz="2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4133088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64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遇到的问题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解决方式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验证效果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LLM 幻觉：危险建议看似合理实则致命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闭环验证：DRC 复检 + 结构化修正反馈 + 撤销语义 + 守门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blocking 级新增违规消除率 100%，39 条危险建议被整体撤销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立创 .epro2 格式无公开文档，真实数据进不来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自研解析器，并与官方导出做交叉验证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78/78 解析成功；元件 / 网络 / BOM 100% 一致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规则误报多，个别规则「静默失效」（死代码、漏 import）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真实铜箔数据重标定阈值；专项审计暴露隐藏缺陷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误报 −52%；修复 5 处隐藏缺陷，锐角规则重新激活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早期指标区分度不足（消除率恒为 100%）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评审误报族判据修正，指标口径重新定义并冻结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误报 1761 → 1691；金样快照锁定，结果可复现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依赖云端 API，离线场景不可用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自研轻量模型本地化，并升级为 BERT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意图识别本地推理，准确率 95.2%，无需联网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85216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52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遗留事项：</a:t>
            </a:r>
            <a:r>
              <a:rPr lang="en-US" sz="13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安装包未做代码签名（未签名 exe 会被杀软拦截）→ 已列入下阶段，申请代码签名证书解决。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下阶段工作计划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下阶段两条主线：论文投稿与软著提交，核心问题均有明确工作方案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658368" y="1517904"/>
            <a:ext cx="220370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月下旬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论文定稿投稿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E8F0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导师审阅 → 期刊模板套排 → 投稿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063240" y="1938528"/>
            <a:ext cx="283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346704" y="137160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3547872" y="1517904"/>
            <a:ext cx="220370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月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软著提交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E8F0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申请表 + 材料报送，跟进审查进度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52744" y="1938528"/>
            <a:ext cx="283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36208" y="137160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437376" y="1517904"/>
            <a:ext cx="220370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月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技术收尾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E8F0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需求电流等剩余规则 · 锐角分级校准 · KiCad 接入预研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842248" y="1938528"/>
            <a:ext cx="283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25712" y="137160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9326880" y="1517904"/>
            <a:ext cx="220370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 上半年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结题冲刺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E8F0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跨模型对比补充实验 · 结题材料 · 企业试用对接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11274552" cy="2651760"/>
          </a:xfrm>
          <a:prstGeom prst="roundRect">
            <a:avLst>
              <a:gd name="adj" fmla="val 2759"/>
            </a:avLst>
          </a:prstGeom>
          <a:solidFill>
            <a:srgbClr val="EBF3FA"/>
          </a:solidFill>
          <a:ln w="12700">
            <a:solidFill>
              <a:srgbClr val="C9DC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731520" y="349300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核心问题工作方案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3931920"/>
            <a:ext cx="106070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100"/>
              </a:spcAft>
              <a:buSzPct val="100000"/>
              <a:buChar char="▸"/>
            </a:pPr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论文线：补齐作者 / 单位信息 → 按目标期刊模板套排 → 导师审定后投稿；同步确定备选期刊，规避单一期刊审稿周期风险</a:t>
            </a:r>
            <a:endParaRPr lang="en-US" sz="1400" dirty="0"/>
          </a:p>
          <a:p>
            <a:pPr marL="152400" indent="-152400">
              <a:spcAft>
                <a:spcPts val="1100"/>
              </a:spcAft>
              <a:buSzPct val="100000"/>
              <a:buChar char="▸"/>
            </a:pPr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结论普适性：跨模型全量对比（DeepSeek 已冒烟通过，GLM-5.3 全量已完成）按时间余量推进</a:t>
            </a:r>
            <a:endParaRPr lang="en-US" sz="1400" dirty="0"/>
          </a:p>
          <a:p>
            <a:pPr marL="152400" indent="-152400">
              <a:spcAft>
                <a:spcPts val="1100"/>
              </a:spcAft>
              <a:buSzPct val="100000"/>
              <a:buChar char="▸"/>
            </a:pPr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分发风险：申请代码签名证书，解决未签名 exe 被杀软拦截的分发问题</a:t>
            </a:r>
            <a:endParaRPr lang="en-US" sz="1400" dirty="0"/>
          </a:p>
          <a:p>
            <a:pPr marL="152400" indent="-152400">
              <a:spcAft>
                <a:spcPts val="1100"/>
              </a:spcAft>
              <a:buSzPct val="100000"/>
              <a:buChar char="▸"/>
            </a:pPr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结题对齐：按立项「发展规划」推进 KiCad 生态与企业试用对接，2027 上半年形成结题材料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· 经费使用情况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经费使用规范、执行进度正常，开支以资料与云服务为主</a:t>
            </a:r>
            <a:endParaRPr lang="en-US" sz="2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6812280" cy="4297680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支出科目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已使用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用途说明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大模型 API / 云服务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≈ ¥3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闭环全量实验 210.6 万 tokens 实测约 ¥2.9；多模态截图分析走已有订阅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图书资料与打印装订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待对账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立项 / 中期材料、论文与用户手册打印装订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知识产权事务费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软件著作权登记费自 2017 年起国家免收，未发生代理费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差旅与会议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本期以本地开发与线上调研为主，未发生差旅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设备购置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纯软件研发：使用团队自有电脑与开源软件栈，无大额采购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635240" y="13716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执行特点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635240" y="1783080"/>
            <a:ext cx="4069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成本结构健康：无大额设备采购，最大单项为小额 API 充值</a:t>
            </a:r>
            <a:endParaRPr lang="en-US" sz="1350" dirty="0"/>
          </a:p>
          <a:p>
            <a:pPr marL="152400" indent="-1524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控费机制：本地模型优先 + 多云路由 + 零 LLM 可复现脚本，把实验成本压至两位数以内</a:t>
            </a:r>
            <a:endParaRPr lang="en-US" sz="1350" dirty="0"/>
          </a:p>
          <a:p>
            <a:pPr marL="152400" indent="-1524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合规：无超支、无科目调剂；决算将随结题材料一并报送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457200" y="5760720"/>
            <a:ext cx="11274552" cy="502920"/>
          </a:xfrm>
          <a:prstGeom prst="roundRect">
            <a:avLst>
              <a:gd name="adj" fmla="val 10909"/>
            </a:avLst>
          </a:prstGeom>
          <a:solidFill>
            <a:srgbClr val="FFF2CC"/>
          </a:solidFill>
          <a:ln w="12700">
            <a:solidFill>
              <a:srgbClr val="E6C8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731520" y="576072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52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注：立项预算额度以项目申报书为准；表内金额为项目组台账口径，提交前将与财务报销凭证逐项核对更新。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9C6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中期检查结论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4114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7455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0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执行情况：</a:t>
            </a:r>
            <a:r>
              <a:rPr lang="en-US" sz="16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总体按立项计划推进，技术路线未偏离；唯一滞后的论文节点已于 10 月补齐 18 页初稿</a:t>
            </a:r>
            <a:endParaRPr lang="en-US" sz="1650" dirty="0"/>
          </a:p>
          <a:p>
            <a:pPr marL="0" indent="0">
              <a:spcAft>
                <a:spcPts val="2000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阶段性成果：</a:t>
            </a:r>
            <a:r>
              <a:rPr lang="en-US" sz="16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 v0.8 建成可用；闭环实验收敛率 94.2%、危险建议消除率 100%、缺陷检出 95.7%，五项指标全面超越立项目标</a:t>
            </a:r>
            <a:endParaRPr lang="en-US" sz="1650" dirty="0"/>
          </a:p>
          <a:p>
            <a:pPr marL="0" indent="0">
              <a:spcAft>
                <a:spcPts val="2000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问题与解决：</a:t>
            </a:r>
            <a:r>
              <a:rPr lang="en-US" sz="16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幻觉、数据、误报、指标口径、离线化五大问题全部闭环，解法均经 155 个真实设计数据验证</a:t>
            </a:r>
            <a:endParaRPr lang="en-US" sz="1650" dirty="0"/>
          </a:p>
          <a:p>
            <a:pPr marL="0" indent="0">
              <a:spcAft>
                <a:spcPts val="2000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下阶段：</a:t>
            </a:r>
            <a:r>
              <a:rPr lang="en-US" sz="16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论文投稿与软著提交两条主线，配套明确工作方案，2027 上半年具备结题条件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57200" y="580644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C6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开源仓库：github.com/Lin-666spring/eda_ai_assistant　·　智绘PCB 项目组（李泓达 · 林昊晞 · 刘澈）　·　2026-10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1404</Words>
  <Application>Microsoft Office PowerPoint</Application>
  <PresentationFormat>宽屏</PresentationFormat>
  <Paragraphs>262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6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智绘PCB——AI智能PCB设计助手 中期检查汇报</dc:title>
  <dc:subject>PptxGenJS Presentation</dc:subject>
  <dc:creator>智绘PCB项目组</dc:creator>
  <cp:lastModifiedBy>e36346</cp:lastModifiedBy>
  <cp:revision>2</cp:revision>
  <dcterms:created xsi:type="dcterms:W3CDTF">2026-10-19T08:39:32Z</dcterms:created>
  <dcterms:modified xsi:type="dcterms:W3CDTF">2026-10-23T11:43:54Z</dcterms:modified>
</cp:coreProperties>
</file>